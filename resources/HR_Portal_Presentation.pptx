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Smart Recruitment Portal &amp; Roster Analytics</a:t>
            </a:r>
          </a:p>
          <a:p>
            <a:pPr>
              <a:spcBef>
                <a:spcPts val="1500"/>
              </a:spcBef>
              <a:defRPr sz="2000">
                <a:solidFill>
                  <a:srgbClr val="C2CDDB"/>
                </a:solidFill>
                <a:latin typeface="Arial"/>
              </a:defRPr>
            </a:pPr>
            <a:r>
              <a:t>Streamlining applicant tracking, structured data validation, and clean decision-ready reporting</a:t>
            </a:r>
          </a:p>
          <a:p>
            <a:pPr>
              <a:spcBef>
                <a:spcPts val="80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Operational Overview Presentation  •  Solutions &amp; Business Benefits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The Core Challenge: Spreadsheet Delimiter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  <a:latin typeface="Arial"/>
              </a:defRPr>
            </a:pPr>
            <a:r>
              <a:t>LEGACY PROCESS ISSUES</a:t>
            </a:r>
          </a:p>
          <a:p>
            <a:pPr>
              <a:spcBef>
                <a:spcPts val="800"/>
              </a:spcBef>
              <a:spcAft>
                <a:spcPts val="1500"/>
              </a:spcAft>
              <a:defRPr sz="2400" b="1">
                <a:solidFill>
                  <a:srgbClr val="0F172A"/>
                </a:solidFill>
                <a:latin typeface="Arial"/>
              </a:defRPr>
            </a:pPr>
            <a:r>
              <a:t>Messy Data &amp; Broken Layouts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Multiple qualifications/jobs clumped into single cells with commas or semicolons, making search and sorting impossible.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Spreadsheets stretching infinitely to the right with redundant blank columns, causing 'horizontal scrolling fatigue'.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Scores formatted inconsistently (mix of '9.2 CGPA', '82.0 Percentage', and raw numbers), breaking comparisons.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Crucial age and contact fields missing, outdated, or hard to read.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4748B"/>
                </a:solidFill>
                <a:latin typeface="Arial"/>
              </a:defRPr>
            </a:pPr>
            <a:r>
              <a:t>OPERATIONAL IMPACT</a:t>
            </a:r>
          </a:p>
          <a:p>
            <a:pPr>
              <a:spcBef>
                <a:spcPts val="800"/>
              </a:spcBef>
              <a:spcAft>
                <a:spcPts val="1500"/>
              </a:spcAft>
              <a:defRPr sz="2400" b="1">
                <a:solidFill>
                  <a:srgbClr val="0F172A"/>
                </a:solidFill>
                <a:latin typeface="Arial"/>
              </a:defRPr>
            </a:pPr>
            <a:r>
              <a:t>Hiring Delays &amp; Loss of Talent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Hiring managers waste hours manually separating rows to review candidate academic histories.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Critical candidates are missed because their Ph.D. or publication details are buried inside long text blocks.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Difficulty in summarizing applicant metrics for senior leadership.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Prone to manual errors during data copy-paste cycles.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Candidate Experience: Clean Intake Channels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64748B"/>
                </a:solidFill>
                <a:latin typeface="Arial"/>
              </a:defRPr>
            </a:pPr>
            <a:r>
              <a:t>The system starts with a structured candidate-facing application experience.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Structured Job Board: </a:t>
            </a:r>
            <a:r>
              <a:rPr sz="1500" b="0">
                <a:solidFill>
                  <a:srgbClr val="1E293B"/>
                </a:solidFill>
                <a:latin typeface="Arial"/>
              </a:rPr>
              <a:t>Applicants view open vacancies, filter by divisions, check submission deadlines, and follow application progress.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Multi-Degree Academic Fields: </a:t>
            </a:r>
            <a:r>
              <a:rPr sz="1500" b="0">
                <a:solidFill>
                  <a:srgbClr val="1E293B"/>
                </a:solidFill>
                <a:latin typeface="Arial"/>
              </a:rPr>
              <a:t>Allows candidate to input multiple educational levels (Undergraduate, Postgraduate, PhD/Doctorate) with uniform structure (University, Degree name/Thesis, Scores, and Passing Year).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Work &amp; Publications Tracking: </a:t>
            </a:r>
            <a:r>
              <a:rPr sz="1500" b="0">
                <a:solidFill>
                  <a:srgbClr val="1E293B"/>
                </a:solidFill>
                <a:latin typeface="Arial"/>
              </a:rPr>
              <a:t>Dedicated entries for professional work histories and academic contributions (Publications, Book chapters, Research papers).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Validation at Point of Entry: </a:t>
            </a:r>
            <a:r>
              <a:rPr sz="1500" b="0">
                <a:solidFill>
                  <a:srgbClr val="1E293B"/>
                </a:solidFill>
                <a:latin typeface="Arial"/>
              </a:rPr>
              <a:t>Forces consistent score type selection (CGPA vs. Percentage) and prevents typing errors before submission.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HR Operations &amp; Smarter Filtering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64748B"/>
                </a:solidFill>
                <a:latin typeface="Arial"/>
              </a:defRPr>
            </a:pPr>
            <a:r>
              <a:t>Streamlining HR decision-making with direct operational intelligence.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Job Posting Lifecycle: </a:t>
            </a:r>
            <a:r>
              <a:rPr sz="1500" b="0">
                <a:solidFill>
                  <a:srgbClr val="1E293B"/>
                </a:solidFill>
                <a:latin typeface="Arial"/>
              </a:rPr>
              <a:t>Easily create, edit, close, or soft-delete job postings. System automatically closes applications when deadlines are reached.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Instant Specialized Filtering: </a:t>
            </a:r>
            <a:r>
              <a:rPr sz="1500" b="0">
                <a:solidFill>
                  <a:srgbClr val="1E293B"/>
                </a:solidFill>
                <a:latin typeface="Arial"/>
              </a:rPr>
              <a:t>Filter applicants dynamically. Find candidates based on specific criteria (e.g. only Ph.D. degrees, minimum 2 years experience, specific universities, or publication topics) instantly.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Applicant Demographics &amp; Summary: </a:t>
            </a:r>
            <a:r>
              <a:rPr sz="1500" b="0">
                <a:solidFill>
                  <a:srgbClr val="1E293B"/>
                </a:solidFill>
                <a:latin typeface="Arial"/>
              </a:rPr>
              <a:t>HR gets real-time metrics showing total applicants, average experience levels, and gender distribution.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Operational Sub-Row Indicators: </a:t>
            </a:r>
            <a:r>
              <a:rPr sz="1500" b="0">
                <a:solidFill>
                  <a:srgbClr val="1E293B"/>
                </a:solidFill>
                <a:latin typeface="Arial"/>
              </a:rPr>
              <a:t>Roster cards display key metadata like 'Male • 31 Yrs • Delhi' directly on initial load using fast backend age calculation.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HR Portal: Candidate Dossier Modal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400" b="1">
                <a:solidFill>
                  <a:srgbClr val="0F172A"/>
                </a:solidFill>
                <a:latin typeface="Arial"/>
              </a:defRPr>
            </a:pPr>
            <a:r>
              <a:t>At-a-Glance Professional Profiles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Single-click popup dossier: HR reviews applicant details without leaving the tracking list.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Displays calculated operational age and candidate contact info.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Segments data into distinct, readable cards for Higher Education levels, Publications, and Work Experience.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Includes links to LinkedIn, Google Scholar, and direct CV download/preview.</a:t>
            </a:r>
          </a:p>
        </p:txBody>
      </p:sp>
      <p:pic>
        <p:nvPicPr>
          <p:cNvPr id="4" name="Picture 3" descr="media__17799537653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45920"/>
            <a:ext cx="59436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Optimized Excel Roster Exports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Arial"/>
              </a:defRPr>
            </a:pPr>
            <a:r>
              <a:t>Grouped Stacked Rows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Solves delimited clumping: Multiple degrees, publications, or work experiences are written as stacked vertical rows mapped to one candidate.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Candidate's primary identifiers (Name, Contact Info, Total Experience) are merged vertically for that applicant's row group.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Maintains database structure in Excel without breaking automated filters.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164592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Arial"/>
              </a:defRPr>
            </a:pPr>
            <a:r>
              <a:t>Visual Layout &amp; Borders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Horizontal Boundary Clipping: Text wraps inside cell boundaries and cuts off cleanly instead of spilling over neighboring empty columns.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Medium blue vertical borders separate major sections (e.g. Graduation, PG, PhD, Publications, Work).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Row height optimization: Single-row applicants have row heights set to 26px, headers to 28px, maintaining vertical rhythm.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Arial"/>
              </a:defRPr>
            </a:pPr>
            <a:r>
              <a:t>Clean Normalization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Higher education scores automatically display as '79%' or '8.2 CGPA'.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Integer-equivalent scores strip trailing '.0' (renders clean '8 CGPA' and '79%').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Class X &amp; XII scores output raw numbers (e.g. '97' or '80.5') with no suffix, matching standard metrics.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Confidentiality: Candidacy status columns are excluded from final report sheets.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Strategic Value Add &amp;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t>Time Saved in Review: </a:t>
            </a:r>
            <a:r>
              <a:rPr sz="1500" b="0">
                <a:solidFill>
                  <a:srgbClr val="E2E8F0"/>
                </a:solidFill>
                <a:latin typeface="Arial"/>
              </a:rPr>
              <a:t>Hiring managers can scan and review candidate histories in a single, well-styled spreadsheet. No manual data alignment or formatting is required.</a:t>
            </a:r>
          </a:p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t>Elimination of Data Gaps: </a:t>
            </a:r>
            <a:r>
              <a:rPr sz="1500" b="0">
                <a:solidFill>
                  <a:srgbClr val="E2E8F0"/>
                </a:solidFill>
                <a:latin typeface="Arial"/>
              </a:rPr>
              <a:t>Structured intake fields and background calculations ensure candidate information is complete, clean, and consistent from day one.</a:t>
            </a:r>
          </a:p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t>Enhanced Decision Support: </a:t>
            </a:r>
            <a:r>
              <a:rPr sz="1500" b="0">
                <a:solidFill>
                  <a:srgbClr val="E2E8F0"/>
                </a:solidFill>
                <a:latin typeface="Arial"/>
              </a:rPr>
              <a:t>Advanced filters allow instant shortlisting of candidates matching high-level requirements (e.g., finding all applicants with PhD qualifications and specific research experience).</a:t>
            </a:r>
          </a:p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t>Ready-to-Present Formats: </a:t>
            </a:r>
            <a:r>
              <a:rPr sz="1500" b="0">
                <a:solidFill>
                  <a:srgbClr val="E2E8F0"/>
                </a:solidFill>
                <a:latin typeface="Arial"/>
              </a:rPr>
              <a:t>Reports are styled with proper dividers, clipped text, and formatted scores, making them ready to share with senior management and board members immediately.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