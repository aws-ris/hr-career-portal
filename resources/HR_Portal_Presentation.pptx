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RIS Recruitment Portal &amp; Smart Roster</a:t>
            </a:r>
          </a:p>
          <a:p>
            <a:pPr>
              <a:spcBef>
                <a:spcPts val="1500"/>
              </a:spcBef>
              <a:defRPr sz="2000">
                <a:solidFill>
                  <a:srgbClr val="C2CDDB"/>
                </a:solidFill>
                <a:latin typeface="Arial"/>
              </a:defRPr>
            </a:pPr>
            <a:r>
              <a:t>Streamlining candidate experiences, structured job creations, and database-accurate exports</a:t>
            </a:r>
          </a:p>
          <a:p>
            <a:pPr>
              <a:spcBef>
                <a:spcPts val="80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Operational Overview &amp; Live Features Walkthrough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The Operational Problem We 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F4444"/>
                </a:solidFill>
                <a:latin typeface="Arial"/>
              </a:defRPr>
            </a:pPr>
            <a:r>
              <a:t>THE RECRUITMENT BOTTLENECK</a:t>
            </a:r>
          </a:p>
          <a:p>
            <a:pPr>
              <a:spcBef>
                <a:spcPts val="800"/>
              </a:spcBef>
              <a:spcAft>
                <a:spcPts val="1500"/>
              </a:spcAft>
              <a:defRPr sz="2400" b="1">
                <a:solidFill>
                  <a:srgbClr val="0F172A"/>
                </a:solidFill>
                <a:latin typeface="Arial"/>
              </a:defRPr>
            </a:pPr>
            <a:r>
              <a:t>Messy Data &amp; Loss of Focus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Qualifications, publications, and works clumped into single cells with commas, breaking searchability.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Spreadsheets stretching infinitely to the right with empty column chains (UG1, UG2, Work1, Work2), making rosters unreadable.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Scores formatted inconsistently (mix of '9.0 CGPA', '79.0 Percentage', and default 0.0 entries).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Manual resume downloading and copy-pasting causing hiring delays.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Arial"/>
              </a:defRPr>
            </a:pPr>
            <a:r>
              <a:t>THE INTEGRATED PORTAL APPROACH</a:t>
            </a:r>
          </a:p>
          <a:p>
            <a:pPr>
              <a:spcBef>
                <a:spcPts val="800"/>
              </a:spcBef>
              <a:spcAft>
                <a:spcPts val="1500"/>
              </a:spcAft>
              <a:defRPr sz="2400" b="1">
                <a:solidFill>
                  <a:srgbClr val="0F172A"/>
                </a:solidFill>
                <a:latin typeface="Arial"/>
              </a:defRPr>
            </a:pPr>
            <a:r>
              <a:t>Clean Intake to Clean Output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Structured Application Intake: Candidates input individual degrees, scores, and timelines dynamically.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Operational HR Dashboards: Instantly review applicant lists, apply filters, and access dossier profile sheets.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Grouped Stacked Excel Roster: Candidate qualifications are stacked vertically with merged basic details.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Strict score normalization (clean '%' and 'CGPA' suffixes, stripping trailing decimals).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Candidate Interface: Open Positions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75488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Explore Opportunities: </a:t>
            </a:r>
            <a:r>
              <a:rPr b="0" sz="1300">
                <a:solidFill>
                  <a:srgbClr val="1E293B"/>
                </a:solidFill>
                <a:latin typeface="Arial"/>
              </a:rPr>
              <a:t>Candidates land on a clean, modern interface listing open vacancies at RIS.</a:t>
            </a:r>
          </a:p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Transparent Metadata: </a:t>
            </a:r>
            <a:r>
              <a:rPr b="0" sz="1300">
                <a:solidFill>
                  <a:srgbClr val="1E293B"/>
                </a:solidFill>
                <a:latin typeface="Arial"/>
              </a:rPr>
              <a:t>Each job card displays division tags (e.g., CMEC, RIS), location (New Delhi, India), and clear application deadlines.</a:t>
            </a:r>
          </a:p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Job-Specific Information: </a:t>
            </a:r>
            <a:r>
              <a:rPr b="0" sz="1300">
                <a:solidFill>
                  <a:srgbClr val="1E293B"/>
                </a:solidFill>
                <a:latin typeface="Arial"/>
              </a:rPr>
              <a:t>Provides short public descriptions to inform prospective applicants prior to starting an application.</a:t>
            </a:r>
          </a:p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Frictionless Flow: </a:t>
            </a:r>
            <a:r>
              <a:rPr b="0" sz="1300">
                <a:solidFill>
                  <a:srgbClr val="1E293B"/>
                </a:solidFill>
                <a:latin typeface="Arial"/>
              </a:rPr>
              <a:t>A direct 'Apply Now' flow redirects candidates to a structured multiphase application form.</a:t>
            </a:r>
          </a:p>
        </p:txBody>
      </p:sp>
      <p:pic>
        <p:nvPicPr>
          <p:cNvPr id="4" name="Picture 3" descr="media__17799895992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463040"/>
            <a:ext cx="56692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HR Dashboard: Central Vacancy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75488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Administrative Overview: </a:t>
            </a:r>
            <a:r>
              <a:rPr b="0" sz="1300">
                <a:solidFill>
                  <a:srgbClr val="1E293B"/>
                </a:solidFill>
                <a:latin typeface="Arial"/>
              </a:rPr>
              <a:t>HR administrators get a comprehensive birds-eye view of all hiring activities.</a:t>
            </a:r>
          </a:p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Status Counters: </a:t>
            </a:r>
            <a:r>
              <a:rPr b="0" sz="1300">
                <a:solidFill>
                  <a:srgbClr val="1E293B"/>
                </a:solidFill>
                <a:latin typeface="Arial"/>
              </a:rPr>
              <a:t>Top statistics cards summarize Open Positions, Total Applicants (this year), and listings Closing Soon.</a:t>
            </a:r>
          </a:p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Job Postings List: </a:t>
            </a:r>
            <a:r>
              <a:rPr b="0" sz="1300">
                <a:solidFill>
                  <a:srgbClr val="1E293B"/>
                </a:solidFill>
                <a:latin typeface="Arial"/>
              </a:rPr>
              <a:t>A central list displays role titles, divisions, applicant counts, posting dates, deadlines, and statuses (Open/Draft/Closed).</a:t>
            </a:r>
          </a:p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Actions Panel: </a:t>
            </a:r>
            <a:r>
              <a:rPr b="0" sz="1300">
                <a:solidFill>
                  <a:srgbClr val="1E293B"/>
                </a:solidFill>
                <a:latin typeface="Arial"/>
              </a:rPr>
              <a:t>Quick access buttons to view applicants, edit job details, or archive postings.</a:t>
            </a:r>
          </a:p>
        </p:txBody>
      </p:sp>
      <p:pic>
        <p:nvPicPr>
          <p:cNvPr id="4" name="Picture 3" descr="media__17799896751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463040"/>
            <a:ext cx="56692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HR Operations: Streamlined Job Creation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75488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Simplified Input Layout: </a:t>
            </a:r>
            <a:r>
              <a:rPr b="0" sz="1300">
                <a:solidFill>
                  <a:srgbClr val="1E293B"/>
                </a:solidFill>
                <a:latin typeface="Arial"/>
              </a:rPr>
              <a:t>Create job cards are cleaned up by removing redundant description notes and AI requirements fields.</a:t>
            </a:r>
          </a:p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Contract &amp; Compensation Settings: </a:t>
            </a:r>
            <a:r>
              <a:rPr b="0" sz="1300">
                <a:solidFill>
                  <a:srgbClr val="1E293B"/>
                </a:solidFill>
                <a:latin typeface="Arial"/>
              </a:rPr>
              <a:t>Includes a dedicated configuration card at the bottom to define pay bands and contract constraints.</a:t>
            </a:r>
          </a:p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Salary Bands: </a:t>
            </a:r>
            <a:r>
              <a:rPr b="0" sz="1300">
                <a:solidFill>
                  <a:srgbClr val="1E293B"/>
                </a:solidFill>
                <a:latin typeface="Arial"/>
              </a:rPr>
              <a:t>Set minimum and maximum pay ranges directly using dropdown options.</a:t>
            </a:r>
          </a:p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Experience Boundaries: </a:t>
            </a:r>
            <a:r>
              <a:rPr b="0" sz="1300">
                <a:solidFill>
                  <a:srgbClr val="1E293B"/>
                </a:solidFill>
                <a:latin typeface="Arial"/>
              </a:rPr>
              <a:t>Specify minimum and maximum experience ranges required for applicants, and define contract years.</a:t>
            </a:r>
          </a:p>
        </p:txBody>
      </p:sp>
      <p:pic>
        <p:nvPicPr>
          <p:cNvPr id="4" name="Picture 3" descr="media__17799896581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463040"/>
            <a:ext cx="56692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HR Dashboard: General Talent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75488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Visual Demographics: </a:t>
            </a:r>
            <a:r>
              <a:rPr b="0" sz="1300">
                <a:solidFill>
                  <a:srgbClr val="1E293B"/>
                </a:solidFill>
                <a:latin typeface="Arial"/>
              </a:rPr>
              <a:t>Presents real-time candidate statistics across the entire system.</a:t>
            </a:r>
          </a:p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Gender Diversity: </a:t>
            </a:r>
            <a:r>
              <a:rPr b="0" sz="1300">
                <a:solidFill>
                  <a:srgbClr val="1E293B"/>
                </a:solidFill>
                <a:latin typeface="Arial"/>
              </a:rPr>
              <a:t>A donut chart displays male/female distribution of the applicant pool.</a:t>
            </a:r>
          </a:p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Top Talent Hubs: </a:t>
            </a:r>
            <a:r>
              <a:rPr b="0" sz="1300">
                <a:solidFill>
                  <a:srgbClr val="1E293B"/>
                </a:solidFill>
                <a:latin typeface="Arial"/>
              </a:rPr>
              <a:t>Bar charts show geographic distributions, showing which states candidates apply from most (e.g., Tamil Nadu, Delhi, Karnataka).</a:t>
            </a:r>
          </a:p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Pipeline Velocity: </a:t>
            </a:r>
            <a:r>
              <a:rPr b="0" sz="1300">
                <a:solidFill>
                  <a:srgbClr val="1E293B"/>
                </a:solidFill>
                <a:latin typeface="Arial"/>
              </a:rPr>
              <a:t>A status bar tracks total talent counts alongside shortlisted, selected, and rejected applicants.</a:t>
            </a:r>
          </a:p>
        </p:txBody>
      </p:sp>
      <p:pic>
        <p:nvPicPr>
          <p:cNvPr id="4" name="Picture 3" descr="media__17799897076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463040"/>
            <a:ext cx="56692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Roster Analytics &amp; Specialized Filtering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75488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Role-Specific Metrics: </a:t>
            </a:r>
            <a:r>
              <a:rPr b="0" sz="1300">
                <a:solidFill>
                  <a:srgbClr val="1E293B"/>
                </a:solidFill>
                <a:latin typeface="Arial"/>
              </a:rPr>
              <a:t>Provides demographic, geographic, and highest degree distributions specifically for the active job listing.</a:t>
            </a:r>
          </a:p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Degree Seniority: </a:t>
            </a:r>
            <a:r>
              <a:rPr b="0" sz="1300">
                <a:solidFill>
                  <a:srgbClr val="1E293B"/>
                </a:solidFill>
                <a:latin typeface="Arial"/>
              </a:rPr>
              <a:t>Instantly visualizes Ph.D., Masters, and Bachelors ratios in the applicant pool.</a:t>
            </a:r>
          </a:p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Candidate Filters: </a:t>
            </a:r>
            <a:r>
              <a:rPr b="0" sz="1300">
                <a:solidFill>
                  <a:srgbClr val="1E293B"/>
                </a:solidFill>
                <a:latin typeface="Arial"/>
              </a:rPr>
              <a:t>Advanced search cards allow HR to filter candidates based on biographical details, early academics (Class X/XII), higher education degrees, work history, and publication fields.</a:t>
            </a:r>
          </a:p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Instant Shortlisting: </a:t>
            </a:r>
            <a:r>
              <a:rPr b="0" sz="1300">
                <a:solidFill>
                  <a:srgbClr val="1E293B"/>
                </a:solidFill>
                <a:latin typeface="Arial"/>
              </a:rPr>
              <a:t>Enables HR to search through hundreds of profiles in seconds to find exact matches.</a:t>
            </a:r>
          </a:p>
        </p:txBody>
      </p:sp>
      <p:pic>
        <p:nvPicPr>
          <p:cNvPr id="4" name="Picture 3" descr="media__17799897284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463040"/>
            <a:ext cx="56692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HR Portal: Candidate Dossier Modal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4748B"/>
                </a:solidFill>
                <a:latin typeface="Arial"/>
              </a:defRPr>
            </a:pPr>
            <a:r>
              <a:t>Modular Candidate Dossier popup showing top overview metrics (left) and scrolled detailed profile view (right).</a:t>
            </a:r>
          </a:p>
        </p:txBody>
      </p:sp>
      <p:pic>
        <p:nvPicPr>
          <p:cNvPr id="4" name="Picture 3" descr="media__17799898576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5120640" cy="3840480"/>
          </a:xfrm>
          <a:prstGeom prst="rect">
            <a:avLst/>
          </a:prstGeom>
        </p:spPr>
      </p:pic>
      <p:pic>
        <p:nvPicPr>
          <p:cNvPr id="5" name="Picture 4" descr="media__17799898696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11680"/>
            <a:ext cx="512064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4F46E5"/>
                </a:solidFill>
                <a:latin typeface="Arial"/>
              </a:defRPr>
            </a:pPr>
            <a:r>
              <a:t>• Visual academic cards (Ph.D. in purple, Masters in blue)  • Dynamic rollups (UG: 8.6 | PG: 77% | XII: 91.3%)  • Blue 'OK' close button in footer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Roster Exports: Clean Reports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75488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Multiple Formats: </a:t>
            </a:r>
            <a:r>
              <a:rPr b="0" sz="1300">
                <a:solidFill>
                  <a:srgbClr val="1E293B"/>
                </a:solidFill>
                <a:latin typeface="Arial"/>
              </a:rPr>
              <a:t>Provides HR with flexible export formats depending on the target audience.</a:t>
            </a:r>
          </a:p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Detailed Excel (.xlsx): </a:t>
            </a:r>
            <a:r>
              <a:rPr b="0" sz="1300">
                <a:solidFill>
                  <a:srgbClr val="1E293B"/>
                </a:solidFill>
                <a:latin typeface="Arial"/>
              </a:rPr>
              <a:t>Solves comma-clumping. Generates grouped stacked rows for candidates with multiple degrees, merging basic candidate details vertically.</a:t>
            </a:r>
          </a:p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Standardized Summary (.xlsx): </a:t>
            </a:r>
            <a:r>
              <a:rPr b="0" sz="1300">
                <a:solidFill>
                  <a:srgbClr val="1E293B"/>
                </a:solidFill>
                <a:latin typeface="Arial"/>
              </a:rPr>
              <a:t>Provides a condensed one-candidate-per-row summary table containing formatted 'Degree (University)' combinations.</a:t>
            </a:r>
          </a:p>
          <a:p>
            <a:pPr>
              <a:spcAft>
                <a:spcPts val="1200"/>
              </a:spcAft>
              <a:defRPr b="1" sz="1400">
                <a:solidFill>
                  <a:srgbClr val="0F172A"/>
                </a:solidFill>
                <a:latin typeface="Arial"/>
              </a:defRPr>
            </a:pPr>
            <a:r>
              <a:t>• Clean Score Formatting: </a:t>
            </a:r>
            <a:r>
              <a:rPr b="0" sz="1300">
                <a:solidFill>
                  <a:srgbClr val="1E293B"/>
                </a:solidFill>
                <a:latin typeface="Arial"/>
              </a:rPr>
              <a:t>Universally formats scores as '79%' or '8.2 CGPA', removes trailing '.0' decimals for integers, and leaves X and XII as raw numbers.</a:t>
            </a:r>
          </a:p>
        </p:txBody>
      </p:sp>
      <p:pic>
        <p:nvPicPr>
          <p:cNvPr id="4" name="Picture 3" descr="media__17799899232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463040"/>
            <a:ext cx="56692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Smart Recruitment Portal: 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800"/>
              </a:spcBef>
              <a:defRPr sz="1600" b="1">
                <a:solidFill>
                  <a:srgbClr val="C2CDDB"/>
                </a:solidFill>
                <a:latin typeface="Arial"/>
              </a:defRPr>
            </a:pPr>
            <a:r>
              <a:t>Time Saved in Review: </a:t>
            </a:r>
            <a:r>
              <a:rPr sz="1500" b="0">
                <a:solidFill>
                  <a:srgbClr val="E2E8F0"/>
                </a:solidFill>
                <a:latin typeface="Arial"/>
              </a:rPr>
              <a:t>HR and hiring managers scan, filter, and review candidates directly from the portal, eliminating manual CV tracking files.</a:t>
            </a:r>
          </a:p>
          <a:p>
            <a:pPr>
              <a:spcBef>
                <a:spcPts val="1800"/>
              </a:spcBef>
              <a:defRPr sz="1600" b="1">
                <a:solidFill>
                  <a:srgbClr val="C2CDDB"/>
                </a:solidFill>
                <a:latin typeface="Arial"/>
              </a:defRPr>
            </a:pPr>
            <a:r>
              <a:t>Elimination of Data Gaps: </a:t>
            </a:r>
            <a:r>
              <a:rPr sz="1500" b="0">
                <a:solidFill>
                  <a:srgbClr val="E2E8F0"/>
                </a:solidFill>
                <a:latin typeface="Arial"/>
              </a:rPr>
              <a:t>Structured inputs and form validations ensure candidate information is complete, clean, and database-aligned on submission.</a:t>
            </a:r>
          </a:p>
          <a:p>
            <a:pPr>
              <a:spcBef>
                <a:spcPts val="1800"/>
              </a:spcBef>
              <a:defRPr sz="1600" b="1">
                <a:solidFill>
                  <a:srgbClr val="C2CDDB"/>
                </a:solidFill>
                <a:latin typeface="Arial"/>
              </a:defRPr>
            </a:pPr>
            <a:r>
              <a:t>Advanced Roster Exports: </a:t>
            </a:r>
            <a:r>
              <a:rPr sz="1500" b="0">
                <a:solidFill>
                  <a:srgbClr val="E2E8F0"/>
                </a:solidFill>
                <a:latin typeface="Arial"/>
              </a:rPr>
              <a:t>Generates presentation-ready spreadsheets with grouped stacked layouts, visual border dividers, and clean academic score normalization.</a:t>
            </a:r>
          </a:p>
          <a:p>
            <a:pPr>
              <a:spcBef>
                <a:spcPts val="1800"/>
              </a:spcBef>
              <a:defRPr sz="1600" b="1">
                <a:solidFill>
                  <a:srgbClr val="C2CDDB"/>
                </a:solidFill>
                <a:latin typeface="Arial"/>
              </a:defRPr>
            </a:pPr>
            <a:r>
              <a:t>Confidential &amp; Board Ready: </a:t>
            </a:r>
            <a:r>
              <a:rPr sz="1500" b="0">
                <a:solidFill>
                  <a:srgbClr val="E2E8F0"/>
                </a:solidFill>
                <a:latin typeface="Arial"/>
              </a:rPr>
              <a:t>Roster filters, search functionality, and standardized exports are structured to be shared directly with senior board members and stakeholders.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