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85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32720" cy="278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rPr dirty="0"/>
              <a:t>RIS </a:t>
            </a:r>
            <a:r>
              <a:rPr lang="en-IN" dirty="0"/>
              <a:t>Recruitment Portal</a:t>
            </a:r>
            <a:endParaRPr dirty="0"/>
          </a:p>
          <a:p>
            <a:pPr>
              <a:spcBef>
                <a:spcPts val="1500"/>
              </a:spcBef>
              <a:defRPr sz="2000">
                <a:solidFill>
                  <a:srgbClr val="C2CDDB"/>
                </a:solidFill>
                <a:latin typeface="Arial"/>
              </a:defRPr>
            </a:pPr>
            <a:r>
              <a:rPr dirty="0"/>
              <a:t>Standardizing candidate intake, operational vacancy control, and structured Excel reporting</a:t>
            </a:r>
          </a:p>
          <a:p>
            <a:pPr>
              <a:spcBef>
                <a:spcPts val="80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rPr dirty="0"/>
              <a:t>Executive Briefing  •  Solutions &amp; System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AC65899-7CCF-5FA9-BBCA-1C4F814943F3}"/>
              </a:ext>
            </a:extLst>
          </p:cNvPr>
          <p:cNvSpPr/>
          <p:nvPr/>
        </p:nvSpPr>
        <p:spPr>
          <a:xfrm>
            <a:off x="0" y="0"/>
            <a:ext cx="13835921" cy="1188720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/>
          <p:cNvSpPr txBox="1"/>
          <p:nvPr/>
        </p:nvSpPr>
        <p:spPr>
          <a:xfrm>
            <a:off x="731520" y="457200"/>
            <a:ext cx="1069848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The Legacy Challenge: The Data &amp; Roster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37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Arial"/>
              </a:defRPr>
            </a:pPr>
            <a:r>
              <a:rPr sz="1600" dirty="0"/>
              <a:t>THE RECRUITMENT BOTTLENECK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rPr sz="2800" dirty="0"/>
              <a:t>Data Scrawl &amp; Manual Review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Multiple degrees and research works clumped into single cells with commas, blocking automated analysis.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Spreadsheets stretching infinitely to the right with redundant columns, causing horizontal scrolling fatigue.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Manual resume downloads and alignment causing long hiring delays.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19" y="1645920"/>
            <a:ext cx="5384467" cy="3475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6A34A"/>
                </a:solidFill>
                <a:latin typeface="Arial"/>
              </a:defRPr>
            </a:pPr>
            <a:r>
              <a:rPr sz="1600" dirty="0"/>
              <a:t>THE INTEGRATED PORTAL APPROACH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rPr sz="2800" dirty="0"/>
              <a:t>Structured Intake to Clean Output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Standardized Intake: Candidates input individual degrees, scores, and timelines dynamically at source.</a:t>
            </a:r>
            <a:r>
              <a:rPr lang="en-IN" sz="1600" dirty="0"/>
              <a:t> Uses a custom-made database for the backend.</a:t>
            </a:r>
            <a:endParaRPr sz="1600" dirty="0"/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HR Control Centers: Instantly filter active roles, review metrics, and open dossier profile views.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rPr sz="1600" dirty="0"/>
              <a:t>• Candidate details are </a:t>
            </a:r>
            <a:r>
              <a:rPr lang="en-IN" sz="1600" dirty="0"/>
              <a:t>now properly displayed in spreadsheets, making filtration and screening easier.</a:t>
            </a:r>
            <a:endParaRPr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Candidate Interface: Structured Job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658" y="2513364"/>
            <a:ext cx="4937760" cy="183127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lang="en-IN"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Applicants access a clean web interface listing open opportunities at RIS.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Provides concise public descriptions to inform prospective applicants prior to starting an application.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Direct redirection to a structured application form to ensure candidate details are captured correctly.</a:t>
            </a:r>
          </a:p>
        </p:txBody>
      </p:sp>
      <p:pic>
        <p:nvPicPr>
          <p:cNvPr id="4" name="Picture 3" descr="media__1779989599270.png"/>
          <p:cNvPicPr>
            <a:picLocks noChangeAspect="1"/>
          </p:cNvPicPr>
          <p:nvPr/>
        </p:nvPicPr>
        <p:blipFill>
          <a:blip r:embed="rId2"/>
          <a:srcRect l="2779" r="3415"/>
          <a:stretch>
            <a:fillRect/>
          </a:stretch>
        </p:blipFill>
        <p:spPr>
          <a:xfrm>
            <a:off x="5437499" y="1319135"/>
            <a:ext cx="6644573" cy="38512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HR Dashboard: Central Roster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628" y="1371600"/>
            <a:ext cx="4937760" cy="247760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HR administrators get a comprehensive overview of active vacancies and applicant volumes.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Top-level summary cards display Open Positions, Total Applicants (this year), and roles Closing Soon.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Central table showing active vacancies, divisions, applicant numbers, posted dates, and deadlines.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Quick access links to view applicants, edit job listings, or archive roles.</a:t>
            </a:r>
          </a:p>
        </p:txBody>
      </p:sp>
      <p:pic>
        <p:nvPicPr>
          <p:cNvPr id="4" name="Picture 3" descr="media__1779989675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692" y="1188720"/>
            <a:ext cx="6253498" cy="38779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/>
              <a:t>HR Operations: </a:t>
            </a:r>
            <a:r>
              <a:rPr lang="en-IN" dirty="0"/>
              <a:t>Easy Job Posting Creation</a:t>
            </a:r>
            <a:endParaRPr dirty="0"/>
          </a:p>
        </p:txBody>
      </p:sp>
      <p:pic>
        <p:nvPicPr>
          <p:cNvPr id="4" name="Picture 3" descr="media__1779989658124.png"/>
          <p:cNvPicPr>
            <a:picLocks noChangeAspect="1"/>
          </p:cNvPicPr>
          <p:nvPr/>
        </p:nvPicPr>
        <p:blipFill>
          <a:blip r:embed="rId2"/>
          <a:srcRect l="11396" r="13975"/>
          <a:stretch>
            <a:fillRect/>
          </a:stretch>
        </p:blipFill>
        <p:spPr>
          <a:xfrm>
            <a:off x="6392881" y="1252605"/>
            <a:ext cx="5037119" cy="51481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2EABBE-7FE5-A9B2-5D00-F69E4BE3C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738" y="1371600"/>
            <a:ext cx="5685022" cy="47724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/>
              <a:t>HR Dashboard: </a:t>
            </a:r>
            <a:r>
              <a:rPr lang="en-IN" dirty="0"/>
              <a:t>Global </a:t>
            </a:r>
            <a:r>
              <a:rPr dirty="0"/>
              <a:t>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937760" cy="198515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• </a:t>
            </a:r>
            <a:r>
              <a:rPr b="0" dirty="0">
                <a:solidFill>
                  <a:srgbClr val="1E293B"/>
                </a:solidFill>
                <a:latin typeface="Arial"/>
              </a:rPr>
              <a:t>Presents visual candidate demographics across the system automatically.</a:t>
            </a:r>
            <a:endParaRPr lang="en-IN" b="0" dirty="0">
              <a:solidFill>
                <a:srgbClr val="1E293B"/>
              </a:solidFill>
              <a:latin typeface="Arial"/>
            </a:endParaRP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lang="en-US" sz="1600" dirty="0"/>
              <a:t>• </a:t>
            </a:r>
            <a:r>
              <a:rPr lang="en-US" b="0" dirty="0">
                <a:solidFill>
                  <a:srgbClr val="1E293B"/>
                </a:solidFill>
                <a:latin typeface="Arial"/>
              </a:rPr>
              <a:t>A donut chart maps the gender balance of the active applicant pool. A bar chart visualizes geographic distribution, showing top applicant states at a glance.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lang="en-US" sz="1600" dirty="0"/>
              <a:t>• Hiring Pipeline Velocity: </a:t>
            </a:r>
            <a:r>
              <a:rPr lang="en-US" b="0" dirty="0">
                <a:solidFill>
                  <a:srgbClr val="1E293B"/>
                </a:solidFill>
                <a:latin typeface="Arial"/>
              </a:rPr>
              <a:t>Tracks total applications against shortlists and selections dynamically.</a:t>
            </a:r>
          </a:p>
        </p:txBody>
      </p:sp>
      <p:pic>
        <p:nvPicPr>
          <p:cNvPr id="4" name="Picture 3" descr="media__17799897076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9" y="1528996"/>
            <a:ext cx="5883639" cy="423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Roster Analytics &amp; Multivariate Filters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9751" y="2313310"/>
            <a:ext cx="4937760" cy="22313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• </a:t>
            </a:r>
            <a:r>
              <a:rPr b="0" dirty="0">
                <a:solidFill>
                  <a:srgbClr val="1E293B"/>
                </a:solidFill>
                <a:latin typeface="Arial"/>
              </a:rPr>
              <a:t>Displays demographic and seniority distributions tailored to the selected job posting.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• Advanced Filters: </a:t>
            </a:r>
            <a:r>
              <a:rPr b="0" dirty="0">
                <a:solidFill>
                  <a:srgbClr val="1E293B"/>
                </a:solidFill>
                <a:latin typeface="Arial"/>
              </a:rPr>
              <a:t>Isolate candidate subsets instantly using biographical, academic, experience, and publication filters.</a:t>
            </a:r>
          </a:p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• No Decision Lag: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Enables</a:t>
            </a:r>
            <a:r>
              <a:rPr b="0" dirty="0">
                <a:solidFill>
                  <a:srgbClr val="1E293B"/>
                </a:solidFill>
                <a:latin typeface="Arial"/>
              </a:rPr>
              <a:t> HR to search through hundreds of profiles in seconds without opening individual resumes.</a:t>
            </a:r>
          </a:p>
        </p:txBody>
      </p:sp>
      <p:pic>
        <p:nvPicPr>
          <p:cNvPr id="4" name="Picture 3" descr="media__1779989728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11" y="1334216"/>
            <a:ext cx="6494738" cy="44265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/>
              <a:t>Candidate Dossier: 360-Degree Profile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4748B"/>
                </a:solidFill>
                <a:latin typeface="Arial"/>
              </a:defRPr>
            </a:pPr>
            <a:r>
              <a:t>Review candidate profiles instantly in a modular, color-coded dossier modal without opening separate files.</a:t>
            </a:r>
          </a:p>
        </p:txBody>
      </p:sp>
      <p:pic>
        <p:nvPicPr>
          <p:cNvPr id="4" name="Picture 3" descr="media__17799898576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5120640" cy="3840480"/>
          </a:xfrm>
          <a:prstGeom prst="rect">
            <a:avLst/>
          </a:prstGeom>
        </p:spPr>
      </p:pic>
      <p:pic>
        <p:nvPicPr>
          <p:cNvPr id="5" name="Picture 4" descr="media__17799898696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1680"/>
            <a:ext cx="512064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F46E5"/>
                </a:solidFill>
                <a:latin typeface="Arial"/>
              </a:defRPr>
            </a:pPr>
            <a:r>
              <a:t>• Quick Profile Rollups  • Color-Coded Academic Levels  • Timeline Experience Views  • Clean Close Layout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rPr dirty="0"/>
              <a:t>Clean Report</a:t>
            </a:r>
            <a:r>
              <a:rPr lang="en-IN" dirty="0"/>
              <a:t> </a:t>
            </a:r>
            <a:r>
              <a:rPr dirty="0"/>
              <a:t>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93776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sz="1600" b="0" dirty="0">
                <a:solidFill>
                  <a:srgbClr val="1E293B"/>
                </a:solidFill>
                <a:latin typeface="Arial"/>
              </a:rPr>
              <a:t>Download candidate data tailored to the requirements of the review committee.</a:t>
            </a:r>
          </a:p>
        </p:txBody>
      </p:sp>
      <p:pic>
        <p:nvPicPr>
          <p:cNvPr id="4" name="Picture 3" descr="media__1779989923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29356" y="846945"/>
            <a:ext cx="10698480" cy="53860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dirty="0"/>
              <a:t>Operational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3200" dirty="0"/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rPr dirty="0"/>
              <a:t>Time Saved in Review: </a:t>
            </a:r>
            <a:r>
              <a:rPr b="0" dirty="0">
                <a:solidFill>
                  <a:srgbClr val="E2E8F0"/>
                </a:solidFill>
                <a:latin typeface="Arial"/>
              </a:rPr>
              <a:t>Managers </a:t>
            </a:r>
            <a:r>
              <a:rPr lang="en-IN" b="0" dirty="0">
                <a:solidFill>
                  <a:srgbClr val="E2E8F0"/>
                </a:solidFill>
                <a:latin typeface="Arial"/>
              </a:rPr>
              <a:t>can now </a:t>
            </a:r>
            <a:r>
              <a:rPr b="0" dirty="0">
                <a:solidFill>
                  <a:srgbClr val="E2E8F0"/>
                </a:solidFill>
                <a:latin typeface="Arial"/>
              </a:rPr>
              <a:t>review candidates directly from the portal, eliminating manual CV tracking and administrative overhead.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rPr dirty="0"/>
              <a:t>Standardized Candidate Data: </a:t>
            </a:r>
            <a:r>
              <a:rPr b="0" dirty="0">
                <a:solidFill>
                  <a:srgbClr val="E2E8F0"/>
                </a:solidFill>
                <a:latin typeface="Arial"/>
              </a:rPr>
              <a:t>Dynamic form validations ensure applicant details are clean and complete on submission.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rPr dirty="0"/>
              <a:t>Advanced Roster Exports: </a:t>
            </a:r>
            <a:r>
              <a:rPr b="0" dirty="0">
                <a:solidFill>
                  <a:srgbClr val="E2E8F0"/>
                </a:solidFill>
                <a:latin typeface="Arial"/>
              </a:rPr>
              <a:t>Generates presentation-ready spreadsheets with </a:t>
            </a:r>
            <a:r>
              <a:rPr lang="en-IN" b="0" dirty="0">
                <a:solidFill>
                  <a:srgbClr val="E2E8F0"/>
                </a:solidFill>
                <a:latin typeface="Arial"/>
              </a:rPr>
              <a:t>organized </a:t>
            </a:r>
            <a:r>
              <a:rPr b="0" dirty="0">
                <a:solidFill>
                  <a:srgbClr val="E2E8F0"/>
                </a:solidFill>
                <a:latin typeface="Arial"/>
              </a:rPr>
              <a:t>layouts</a:t>
            </a:r>
            <a:r>
              <a:rPr lang="en-IN" b="0" dirty="0">
                <a:solidFill>
                  <a:srgbClr val="E2E8F0"/>
                </a:solidFill>
                <a:latin typeface="Arial"/>
              </a:rPr>
              <a:t>.</a:t>
            </a:r>
            <a:endParaRPr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504</Words>
  <Application>Microsoft Office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v. ⠀</cp:lastModifiedBy>
  <cp:revision>24</cp:revision>
  <dcterms:created xsi:type="dcterms:W3CDTF">2013-01-27T09:14:16Z</dcterms:created>
  <dcterms:modified xsi:type="dcterms:W3CDTF">2026-05-28T18:26:43Z</dcterms:modified>
  <cp:category/>
</cp:coreProperties>
</file>