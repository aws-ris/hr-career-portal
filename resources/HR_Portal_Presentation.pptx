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HR Portal: Recruitment &amp; Smart Analytics</a:t>
            </a:r>
          </a:p>
          <a:p>
            <a:pPr>
              <a:spcBef>
                <a:spcPts val="1500"/>
              </a:spcBef>
              <a:defRPr sz="2000">
                <a:solidFill>
                  <a:srgbClr val="C2CDDB"/>
                </a:solidFill>
                <a:latin typeface="Arial"/>
              </a:defRPr>
            </a:pPr>
            <a:r>
              <a:t>Automated application tracking, candidate dossiers, and optimized multi-degree exports</a:t>
            </a:r>
          </a:p>
          <a:p>
            <a:pPr>
              <a:spcBef>
                <a:spcPts val="80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Comprehensive Presentation Deck  •  Project System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Project Focus: Recruitment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Arial"/>
              </a:defRPr>
            </a:pPr>
            <a:r>
              <a:t>THE RECRUITMENT CHALLENGE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Delimiter Clumping &amp; Horizontal Sprawl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Delimited data clumped into single spreadsheet cells (e.g. multiple publications in one string), breaking automated parsing.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Infinite columns repeating horizontally (e.g. UG1, UG2, Work1, Work2) leading to massive empty spaces.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Inconsistent academic scoring formats (e.g., mix of percentage text, varying decimal precision, and trailing 'Percentage' words).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Disorganized candidate metadata lacking clean age/gender tracking.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2C55E"/>
                </a:solidFill>
                <a:latin typeface="Arial"/>
              </a:defRPr>
            </a:pPr>
            <a:r>
              <a:t>THE PORTAL SOLUTION</a:t>
            </a:r>
          </a:p>
          <a:p>
            <a:pPr>
              <a:spcBef>
                <a:spcPts val="800"/>
              </a:spcBef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Normalized Multi-Row System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Structured multi-row candidate blocks in Excel: multiple degrees/jobs are written as clean vertical rows mapped to one candidate.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Clean boundary text clipping via wrap_text control to prevent text from overflowing to adjacent empty columns.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Universal score normalizer: Bachelor/Master/PhD scores print as '79%' or '8.2 CGPA', with integer rounding. Schooling displays raw numbers.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Full candidates analytics dashboard with fast filters.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Candidate Experience: Standardized Intake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64748B"/>
                </a:solidFill>
                <a:latin typeface="Arial"/>
              </a:defRPr>
            </a:pPr>
            <a:r>
              <a:t>The applicant-facing interface ensures all inputs are structured at the point of ingestion.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Job Listings Portal: </a:t>
            </a:r>
            <a:r>
              <a:rPr sz="1500" b="0">
                <a:solidFill>
                  <a:srgbClr val="1E293B"/>
                </a:solidFill>
                <a:latin typeface="Arial"/>
              </a:rPr>
              <a:t>Candidates view open job vacancies with transparent information regarding divisions (e.g. DAKSHIN), descriptions, deadlines, and tracking states.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Dynamic Academic Forms: </a:t>
            </a:r>
            <a:r>
              <a:rPr sz="1500" b="0">
                <a:solidFill>
                  <a:srgbClr val="1E293B"/>
                </a:solidFill>
                <a:latin typeface="Arial"/>
              </a:rPr>
              <a:t>Supports flexible education levels (Undergraduate, Postgraduate, Doctorate/PhD). Prompts for specific fields like Degree Name/Thesis Title, University, Passing Year, Score Type, and Score Value.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Comprehensive Work &amp; Publications Form: </a:t>
            </a:r>
            <a:r>
              <a:rPr sz="1500" b="0">
                <a:solidFill>
                  <a:srgbClr val="1E293B"/>
                </a:solidFill>
                <a:latin typeface="Arial"/>
              </a:rPr>
              <a:t>Applicants list professional tenures (Company, Role, Start, End Dates) and research contributions (Publications, Book Chapters, Papers, Google Scholar links).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Validation at Ingestion: </a:t>
            </a:r>
            <a:r>
              <a:rPr sz="1500" b="0">
                <a:solidFill>
                  <a:srgbClr val="1E293B"/>
                </a:solidFill>
                <a:latin typeface="Arial"/>
              </a:rPr>
              <a:t>Eliminates parsing errors by validating scoring formats and enforcing relational integrity on the frontend before submitting to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HR Operations &amp; Specialized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4F46E5"/>
                </a:solidFill>
                <a:latin typeface="Arial"/>
              </a:defRPr>
            </a:pPr>
            <a:r>
              <a:t>HR DASHBOARD CAPABILITIES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Job Posting Management: </a:t>
            </a:r>
            <a:r>
              <a:rPr sz="1400" b="0">
                <a:solidFill>
                  <a:srgbClr val="1E293B"/>
                </a:solidFill>
                <a:latin typeface="Arial"/>
              </a:rPr>
              <a:t>HR administrators can dynamically create, edit, close, or delete job postings with auto-closing dates.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Candidate Analytics View: </a:t>
            </a:r>
            <a:r>
              <a:rPr sz="1400" b="0">
                <a:solidFill>
                  <a:srgbClr val="1E293B"/>
                </a:solidFill>
                <a:latin typeface="Arial"/>
              </a:rPr>
              <a:t>Displays applicant counts, average experience, gender distributions, and qualifications on a per-job basis.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Specialized Filters: </a:t>
            </a:r>
            <a:r>
              <a:rPr sz="1400" b="0">
                <a:solidFill>
                  <a:srgbClr val="1E293B"/>
                </a:solidFill>
                <a:latin typeface="Arial"/>
              </a:rPr>
              <a:t>Enables real-time filtering of applicant rosters based on highest degree levels, experience ranges, specific universities, and publication keywords.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4F46E5"/>
                </a:solidFill>
                <a:latin typeface="Arial"/>
              </a:defRPr>
            </a:pPr>
            <a:r>
              <a:t>OPERATIONAL METADATA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Metadata Sub-row: </a:t>
            </a:r>
            <a:r>
              <a:rPr sz="1400" b="0">
                <a:solidFill>
                  <a:srgbClr val="1E293B"/>
                </a:solidFill>
                <a:latin typeface="Arial"/>
              </a:rPr>
              <a:t>Under the applicant's name, the system displays essential descriptors like 'Male • 31 Yrs • Delhi' dynamically.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Dynamic Age Calculation: </a:t>
            </a:r>
            <a:r>
              <a:rPr sz="1400" b="0">
                <a:solidFill>
                  <a:srgbClr val="1E293B"/>
                </a:solidFill>
                <a:latin typeface="Arial"/>
              </a:rPr>
              <a:t>Computed on the backend based on the date of birth (DOB) relative to the current local time, avoiding static outdated entries.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Graceful Loading Separators: </a:t>
            </a:r>
            <a:r>
              <a:rPr sz="1400" b="0">
                <a:solidFill>
                  <a:srgbClr val="1E293B"/>
                </a:solidFill>
                <a:latin typeface="Arial"/>
              </a:rPr>
              <a:t>Eliminates template rendering bugs (e.g. displaying raw bullet points when fields are null on load) by using conditional template strings.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HR Portal: Candidate Dossier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400" b="1">
                <a:solidFill>
                  <a:srgbClr val="0F172A"/>
                </a:solidFill>
                <a:latin typeface="Arial"/>
              </a:defRPr>
            </a:pPr>
            <a:r>
              <a:t>Modular Candidate Dossier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A centralized candidate dossier popup modal accessible instantly from the applicant roster.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Displays contact channels (Email, Mobile) and location metadata at a glance.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Sections are dynamically mapped for Academic Profiles (Undergrad, Postgrad, PhD) and Work &amp; Publications.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Links out to external resources (LinkedIn profiles, Google Scholar profiles) and handles direct CV preview and downloads.</a:t>
            </a:r>
          </a:p>
        </p:txBody>
      </p:sp>
      <p:pic>
        <p:nvPicPr>
          <p:cNvPr id="4" name="Picture 3" descr="media__17799537653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0"/>
            <a:ext cx="59436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Optimized Excel Exporting (No Delimiter Clumping)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Arial"/>
              </a:defRPr>
            </a:pPr>
            <a:r>
              <a:t>Grouped Roster Rows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Roster maps multiple qualifications and work histories into clean stacked rows under a single candidate.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Primary candidate details (Name, Contact, Total Experience) are merged vertically across these sub-rows, matching standard database relational logic.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Avoids clumping entries with commas or creating infinite duplicate columns.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Arial"/>
              </a:defRPr>
            </a:pPr>
            <a:r>
              <a:t>Layout &amp; Aesthetics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Horizontal Boundary Clipping: Uses 'wrap_text=True' combined with fixed row heights (26px for single-row candidate, 28px for headers) to clip overflow text at cell borders cleanly.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Medium blue vertical borders separate major spreadsheet segments (e.g., Graduation, PG, PhD, Publications, Work).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Headers are set in high-contrast solid blue with white bold 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0"/>
            <a:ext cx="3291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4F46E5"/>
                </a:solidFill>
                <a:latin typeface="Arial"/>
              </a:defRPr>
            </a:pPr>
            <a:r>
              <a:t>Score Normalization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Higher education scores are dynamically formatted as percentages ('79%') or CGPA ('8.2 CGPA').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Decimal '.0' is stripped for all integer-equivalent scores (renders clean '8 CGPA' and '79%').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Class X &amp; Class XII columns display raw numbers (e.g. '97' or '80.5') with no suffix, and default to empty cells if missing.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  <a:latin typeface="Arial"/>
              </a:defRPr>
            </a:pPr>
            <a:r>
              <a:t>• Candidate status column is fully removed from exports for confidentiality.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Developer Workflow &amp; Seeding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64748B"/>
                </a:solidFill>
                <a:latin typeface="Arial"/>
              </a:defRPr>
            </a:pPr>
            <a:r>
              <a:t>Automated scripting ensures database parity across Local and Vercel environments.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Automated Seeding Endpoints: </a:t>
            </a:r>
            <a:r>
              <a:rPr sz="1500" b="0">
                <a:solidFill>
                  <a:srgbClr val="1E293B"/>
                </a:solidFill>
                <a:latin typeface="Arial"/>
              </a:rPr>
              <a:t>Created debug endpoint '/api/v1/debug/fix-dakshin-candidates' to clear and populate mock applicant pools cleanly. Randomizes schooling percentages and assigns correct gender based on names.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Trigger Scripts: </a:t>
            </a:r>
            <a:r>
              <a:rPr sz="1500" b="0">
                <a:solidFill>
                  <a:srgbClr val="1E293B"/>
                </a:solidFill>
                <a:latin typeface="Arial"/>
              </a:rPr>
              <a:t>Python execution scripts (e.g. 'trigger_vercel_migration.py') are used locally to invoke endpoints on the remote production Vercel database.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Verification Checks: </a:t>
            </a:r>
            <a:r>
              <a:rPr sz="1500" b="0">
                <a:solidFill>
                  <a:srgbClr val="1E293B"/>
                </a:solidFill>
                <a:latin typeface="Arial"/>
              </a:rPr>
              <a:t>Automated Excel validation scripts ('validate_excel.py') verify spreadsheet structures, border styles, and cell values programmatically after code updates.</a:t>
            </a:r>
          </a:p>
          <a:p>
            <a:pPr>
              <a:spcBef>
                <a:spcPts val="12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CI/CD Deployment: </a:t>
            </a:r>
            <a:r>
              <a:rPr sz="1500" b="0">
                <a:solidFill>
                  <a:srgbClr val="1E293B"/>
                </a:solidFill>
                <a:latin typeface="Arial"/>
              </a:rPr>
              <a:t>Committing changes triggers immediate build and deployment on Vercel, with automated backend hot-reloading.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Technical Architecture &amp; System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Frontend Application: </a:t>
            </a:r>
            <a:r>
              <a:rPr sz="1500" b="0">
                <a:solidFill>
                  <a:srgbClr val="E2E8F0"/>
                </a:solidFill>
                <a:latin typeface="Arial"/>
              </a:rPr>
              <a:t>Next.js / React, TailwindCSS, and Vanilla CSS. Implements responsive UI boards, conditional dossier dialogs, and fast filter states.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Backend Services: </a:t>
            </a:r>
            <a:r>
              <a:rPr sz="1500" b="0">
                <a:solidFill>
                  <a:srgbClr val="E2E8F0"/>
                </a:solidFill>
                <a:latin typeface="Arial"/>
              </a:rPr>
              <a:t>FastAPI (Python-based framework) handling REST API requests, background job tasks, and metadata calculations.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Database Engine: </a:t>
            </a:r>
            <a:r>
              <a:rPr sz="1500" b="0">
                <a:solidFill>
                  <a:srgbClr val="E2E8F0"/>
                </a:solidFill>
                <a:latin typeface="Arial"/>
              </a:rPr>
              <a:t>PostgreSQL database hosted securely on Vercel, mapped with SQLAlchemy ORM models (Candidates, Schooling, HigherEducation, Publications, Work).</a:t>
            </a:r>
          </a:p>
          <a:p>
            <a:pPr>
              <a:spcBef>
                <a:spcPts val="1800"/>
              </a:spcBef>
              <a:defRPr sz="1600" b="1">
                <a:solidFill>
                  <a:srgbClr val="C2CDDB"/>
                </a:solidFill>
                <a:latin typeface="Arial"/>
              </a:defRPr>
            </a:pPr>
            <a:r>
              <a:t>Spreadsheet Engines: </a:t>
            </a:r>
            <a:r>
              <a:rPr sz="1500" b="0">
                <a:solidFill>
                  <a:srgbClr val="E2E8F0"/>
                </a:solidFill>
                <a:latin typeface="Arial"/>
              </a:rPr>
              <a:t>Openpyxl library used on the backend to dynamically style, merge, format, and generate structured candidate rosters.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