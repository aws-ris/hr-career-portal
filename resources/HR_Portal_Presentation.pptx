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RIS Smart Recruitment &amp; Roster System</a:t>
            </a:r>
          </a:p>
          <a:p>
            <a:pPr>
              <a:spcBef>
                <a:spcPts val="1500"/>
              </a:spcBef>
              <a:defRPr sz="2000">
                <a:solidFill>
                  <a:srgbClr val="C2CDDB"/>
                </a:solidFill>
                <a:latin typeface="Arial"/>
              </a:defRPr>
            </a:pPr>
            <a:r>
              <a:t>Standardizing candidate intake, operational vacancy control, and structured Excel reporting</a:t>
            </a:r>
          </a:p>
          <a:p>
            <a:pPr>
              <a:spcBef>
                <a:spcPts val="80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Executive Briefing  •  Solutions &amp; System Walkthrough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The Legacy Challenge: The Data &amp; Roster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2626"/>
                </a:solidFill>
                <a:latin typeface="Arial"/>
              </a:defRPr>
            </a:pPr>
            <a:r>
              <a:t>THE RECRUITMENT BOTTLENECK</a:t>
            </a:r>
          </a:p>
          <a:p>
            <a:pPr>
              <a:spcBef>
                <a:spcPts val="800"/>
              </a:spcBef>
              <a:spcAft>
                <a:spcPts val="1500"/>
              </a:spcAft>
              <a:defRPr sz="2400" b="1">
                <a:solidFill>
                  <a:srgbClr val="0F172A"/>
                </a:solidFill>
                <a:latin typeface="Arial"/>
              </a:defRPr>
            </a:pPr>
            <a:r>
              <a:t>Data Scrawl &amp; Manual Review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Multiple degrees and research works clumped into single cells with commas, blocking automated analysis.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Spreadsheets stretching infinitely to the right with redundant columns, causing horizontal scrolling fatigue.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Inconsistent score formats (CGPAs vs. percentages) making comparison difficult.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Manual resume downloads and alignment causing long hiring delays.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A34A"/>
                </a:solidFill>
                <a:latin typeface="Arial"/>
              </a:defRPr>
            </a:pPr>
            <a:r>
              <a:t>THE INTEGRATED PORTAL APPROACH</a:t>
            </a:r>
          </a:p>
          <a:p>
            <a:pPr>
              <a:spcBef>
                <a:spcPts val="800"/>
              </a:spcBef>
              <a:spcAft>
                <a:spcPts val="1500"/>
              </a:spcAft>
              <a:defRPr sz="2400" b="1">
                <a:solidFill>
                  <a:srgbClr val="0F172A"/>
                </a:solidFill>
                <a:latin typeface="Arial"/>
              </a:defRPr>
            </a:pPr>
            <a:r>
              <a:t>Structured Intake to Clean Output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Standardized Intake: Candidates input individual degrees, scores, and timelines dynamically at source.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HR Control Centers: Instantly filter active roles, review metrics, and open dossier profile views.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Stacked Roster Layouts: Candidate details are stacked vertically with merged basic details.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Score Normalization: Auto-formats scores to clean percentages ('79%') or CGPA ('8 CGPA') on download.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Candidate Interface: Structured Job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93776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b="1" sz="1400">
                <a:solidFill>
                  <a:srgbClr val="0F172A"/>
                </a:solidFill>
                <a:latin typeface="Arial"/>
              </a:defRPr>
            </a:pPr>
            <a:r>
              <a:t>• Explore Opportunities: </a:t>
            </a:r>
            <a:r>
              <a:rPr b="0" sz="1300">
                <a:solidFill>
                  <a:srgbClr val="1E293B"/>
                </a:solidFill>
                <a:latin typeface="Arial"/>
              </a:rPr>
              <a:t>Applicants access a clean web interface listing open opportunities at RIS.</a:t>
            </a:r>
          </a:p>
          <a:p>
            <a:pPr>
              <a:spcAft>
                <a:spcPts val="1200"/>
              </a:spcAft>
              <a:defRPr b="1" sz="1400">
                <a:solidFill>
                  <a:srgbClr val="0F172A"/>
                </a:solidFill>
                <a:latin typeface="Arial"/>
              </a:defRPr>
            </a:pPr>
            <a:r>
              <a:t>• Transparent Information: </a:t>
            </a:r>
            <a:r>
              <a:rPr b="0" sz="1300">
                <a:solidFill>
                  <a:srgbClr val="1E293B"/>
                </a:solidFill>
                <a:latin typeface="Arial"/>
              </a:rPr>
              <a:t>Displays role titles, division tags (e.g. CMEC, DAKSHIN), locations, and submission deadlines.</a:t>
            </a:r>
          </a:p>
          <a:p>
            <a:pPr>
              <a:spcAft>
                <a:spcPts val="1200"/>
              </a:spcAft>
              <a:defRPr b="1" sz="1400">
                <a:solidFill>
                  <a:srgbClr val="0F172A"/>
                </a:solidFill>
                <a:latin typeface="Arial"/>
              </a:defRPr>
            </a:pPr>
            <a:r>
              <a:t>• Clear Scope: </a:t>
            </a:r>
            <a:r>
              <a:rPr b="0" sz="1300">
                <a:solidFill>
                  <a:srgbClr val="1E293B"/>
                </a:solidFill>
                <a:latin typeface="Arial"/>
              </a:rPr>
              <a:t>Provides concise public descriptions to inform prospective applicants prior to starting an application.</a:t>
            </a:r>
          </a:p>
          <a:p>
            <a:pPr>
              <a:spcAft>
                <a:spcPts val="1200"/>
              </a:spcAft>
              <a:defRPr b="1" sz="1400">
                <a:solidFill>
                  <a:srgbClr val="0F172A"/>
                </a:solidFill>
                <a:latin typeface="Arial"/>
              </a:defRPr>
            </a:pPr>
            <a:r>
              <a:t>• Frictionless Flow: </a:t>
            </a:r>
            <a:r>
              <a:rPr b="0" sz="1300">
                <a:solidFill>
                  <a:srgbClr val="1E293B"/>
                </a:solidFill>
                <a:latin typeface="Arial"/>
              </a:rPr>
              <a:t>Direct redirection to a structured application form to ensure candidate details are captured correctly.</a:t>
            </a:r>
          </a:p>
        </p:txBody>
      </p:sp>
      <p:pic>
        <p:nvPicPr>
          <p:cNvPr id="4" name="Picture 3" descr="media__17799895992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HR Dashboard: Central Roster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93776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b="1" sz="1400">
                <a:solidFill>
                  <a:srgbClr val="0F172A"/>
                </a:solidFill>
                <a:latin typeface="Arial"/>
              </a:defRPr>
            </a:pPr>
            <a:r>
              <a:t>• Real-Time Tracking: </a:t>
            </a:r>
            <a:r>
              <a:rPr b="0" sz="1300">
                <a:solidFill>
                  <a:srgbClr val="1E293B"/>
                </a:solidFill>
                <a:latin typeface="Arial"/>
              </a:rPr>
              <a:t>HR administrators get a comprehensive overview of active vacancies and applicant volumes.</a:t>
            </a:r>
          </a:p>
          <a:p>
            <a:pPr>
              <a:spcAft>
                <a:spcPts val="1200"/>
              </a:spcAft>
              <a:defRPr b="1" sz="1400">
                <a:solidFill>
                  <a:srgbClr val="0F172A"/>
                </a:solidFill>
                <a:latin typeface="Arial"/>
              </a:defRPr>
            </a:pPr>
            <a:r>
              <a:t>• Dashboard Statistics: </a:t>
            </a:r>
            <a:r>
              <a:rPr b="0" sz="1300">
                <a:solidFill>
                  <a:srgbClr val="1E293B"/>
                </a:solidFill>
                <a:latin typeface="Arial"/>
              </a:rPr>
              <a:t>Top-level summary cards display Open Positions, Total Applicants (this year), and roles Closing Soon.</a:t>
            </a:r>
          </a:p>
          <a:p>
            <a:pPr>
              <a:spcAft>
                <a:spcPts val="1200"/>
              </a:spcAft>
              <a:defRPr b="1" sz="1400">
                <a:solidFill>
                  <a:srgbClr val="0F172A"/>
                </a:solidFill>
                <a:latin typeface="Arial"/>
              </a:defRPr>
            </a:pPr>
            <a:r>
              <a:t>• Status Columns: </a:t>
            </a:r>
            <a:r>
              <a:rPr b="0" sz="1300">
                <a:solidFill>
                  <a:srgbClr val="1E293B"/>
                </a:solidFill>
                <a:latin typeface="Arial"/>
              </a:rPr>
              <a:t>Central table showing active vacancies, divisions, applicant numbers, posted dates, and deadlines.</a:t>
            </a:r>
          </a:p>
          <a:p>
            <a:pPr>
              <a:spcAft>
                <a:spcPts val="1200"/>
              </a:spcAft>
              <a:defRPr b="1" sz="1400">
                <a:solidFill>
                  <a:srgbClr val="0F172A"/>
                </a:solidFill>
                <a:latin typeface="Arial"/>
              </a:defRPr>
            </a:pPr>
            <a:r>
              <a:t>• Direct Operations: </a:t>
            </a:r>
            <a:r>
              <a:rPr b="0" sz="1300">
                <a:solidFill>
                  <a:srgbClr val="1E293B"/>
                </a:solidFill>
                <a:latin typeface="Arial"/>
              </a:rPr>
              <a:t>Quick access links to view applicants, edit job listings, or archive roles.</a:t>
            </a:r>
          </a:p>
        </p:txBody>
      </p:sp>
      <p:pic>
        <p:nvPicPr>
          <p:cNvPr id="4" name="Picture 3" descr="media__17799896751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HR Operations: Standardized Vacancy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93776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b="1" sz="1400">
                <a:solidFill>
                  <a:srgbClr val="0F172A"/>
                </a:solidFill>
                <a:latin typeface="Arial"/>
              </a:defRPr>
            </a:pPr>
            <a:r>
              <a:t>• Structured Input Forms: </a:t>
            </a:r>
            <a:r>
              <a:rPr b="0" sz="1300">
                <a:solidFill>
                  <a:srgbClr val="1E293B"/>
                </a:solidFill>
                <a:latin typeface="Arial"/>
              </a:rPr>
              <a:t>Clean job creation modal with simplified fields to prevent layout clutter.</a:t>
            </a:r>
          </a:p>
          <a:p>
            <a:pPr>
              <a:spcAft>
                <a:spcPts val="1200"/>
              </a:spcAft>
              <a:defRPr b="1" sz="1400">
                <a:solidFill>
                  <a:srgbClr val="0F172A"/>
                </a:solidFill>
                <a:latin typeface="Arial"/>
              </a:defRPr>
            </a:pPr>
            <a:r>
              <a:t>• Compensation Settings: </a:t>
            </a:r>
            <a:r>
              <a:rPr b="0" sz="1300">
                <a:solidFill>
                  <a:srgbClr val="1E293B"/>
                </a:solidFill>
                <a:latin typeface="Arial"/>
              </a:rPr>
              <a:t>Dedicated contract and compensation settings panel to manage role boundaries.</a:t>
            </a:r>
          </a:p>
          <a:p>
            <a:pPr>
              <a:spcAft>
                <a:spcPts val="1200"/>
              </a:spcAft>
              <a:defRPr b="1" sz="1400">
                <a:solidFill>
                  <a:srgbClr val="0F172A"/>
                </a:solidFill>
                <a:latin typeface="Arial"/>
              </a:defRPr>
            </a:pPr>
            <a:r>
              <a:t>• Predefined Pay Bands: </a:t>
            </a:r>
            <a:r>
              <a:rPr b="0" sz="1300">
                <a:solidFill>
                  <a:srgbClr val="1E293B"/>
                </a:solidFill>
                <a:latin typeface="Arial"/>
              </a:rPr>
              <a:t>Set minimum and maximum pay expectations directly via dropdown selectors.</a:t>
            </a:r>
          </a:p>
          <a:p>
            <a:pPr>
              <a:spcAft>
                <a:spcPts val="1200"/>
              </a:spcAft>
              <a:defRPr b="1" sz="1400">
                <a:solidFill>
                  <a:srgbClr val="0F172A"/>
                </a:solidFill>
                <a:latin typeface="Arial"/>
              </a:defRPr>
            </a:pPr>
            <a:r>
              <a:t>• Experience Requirements: </a:t>
            </a:r>
            <a:r>
              <a:rPr b="0" sz="1300">
                <a:solidFill>
                  <a:srgbClr val="1E293B"/>
                </a:solidFill>
                <a:latin typeface="Arial"/>
              </a:rPr>
              <a:t>Enforce minimum and maximum experience levels required, and set contract durations.</a:t>
            </a:r>
          </a:p>
        </p:txBody>
      </p:sp>
      <p:pic>
        <p:nvPicPr>
          <p:cNvPr id="4" name="Picture 3" descr="media__17799896581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HR Dashboard: System Talent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93776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b="1" sz="1400">
                <a:solidFill>
                  <a:srgbClr val="0F172A"/>
                </a:solidFill>
                <a:latin typeface="Arial"/>
              </a:defRPr>
            </a:pPr>
            <a:r>
              <a:t>• Operational Metrics: </a:t>
            </a:r>
            <a:r>
              <a:rPr b="0" sz="1300">
                <a:solidFill>
                  <a:srgbClr val="1E293B"/>
                </a:solidFill>
                <a:latin typeface="Arial"/>
              </a:rPr>
              <a:t>Presents visual candidate demographics across the system automatically.</a:t>
            </a:r>
          </a:p>
          <a:p>
            <a:pPr>
              <a:spcAft>
                <a:spcPts val="1200"/>
              </a:spcAft>
              <a:defRPr b="1" sz="1400">
                <a:solidFill>
                  <a:srgbClr val="0F172A"/>
                </a:solidFill>
                <a:latin typeface="Arial"/>
              </a:defRPr>
            </a:pPr>
            <a:r>
              <a:t>• Gender Diversity: </a:t>
            </a:r>
            <a:r>
              <a:rPr b="0" sz="1300">
                <a:solidFill>
                  <a:srgbClr val="1E293B"/>
                </a:solidFill>
                <a:latin typeface="Arial"/>
              </a:rPr>
              <a:t>A donut chart maps the gender balance of the active applicant pool.</a:t>
            </a:r>
          </a:p>
          <a:p>
            <a:pPr>
              <a:spcAft>
                <a:spcPts val="1200"/>
              </a:spcAft>
              <a:defRPr b="1" sz="1400">
                <a:solidFill>
                  <a:srgbClr val="0F172A"/>
                </a:solidFill>
                <a:latin typeface="Arial"/>
              </a:defRPr>
            </a:pPr>
            <a:r>
              <a:t>• Top Talent Hubs: </a:t>
            </a:r>
            <a:r>
              <a:rPr b="0" sz="1300">
                <a:solidFill>
                  <a:srgbClr val="1E293B"/>
                </a:solidFill>
                <a:latin typeface="Arial"/>
              </a:rPr>
              <a:t>Visualizes geographic distribution, showing top applicant states at a glance.</a:t>
            </a:r>
          </a:p>
          <a:p>
            <a:pPr>
              <a:spcAft>
                <a:spcPts val="1200"/>
              </a:spcAft>
              <a:defRPr b="1" sz="1400">
                <a:solidFill>
                  <a:srgbClr val="0F172A"/>
                </a:solidFill>
                <a:latin typeface="Arial"/>
              </a:defRPr>
            </a:pPr>
            <a:r>
              <a:t>• Hiring Pipeline Velocity: </a:t>
            </a:r>
            <a:r>
              <a:rPr b="0" sz="1300">
                <a:solidFill>
                  <a:srgbClr val="1E293B"/>
                </a:solidFill>
                <a:latin typeface="Arial"/>
              </a:rPr>
              <a:t>Tracks total applications against shortlists and selections dynamically.</a:t>
            </a:r>
          </a:p>
        </p:txBody>
      </p:sp>
      <p:pic>
        <p:nvPicPr>
          <p:cNvPr id="4" name="Picture 3" descr="media__17799897076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Roster Analytics &amp; Multivariate Filters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93776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b="1" sz="1400">
                <a:solidFill>
                  <a:srgbClr val="0F172A"/>
                </a:solidFill>
                <a:latin typeface="Arial"/>
              </a:defRPr>
            </a:pPr>
            <a:r>
              <a:t>• Vacancy Deep-Dive: </a:t>
            </a:r>
            <a:r>
              <a:rPr b="0" sz="1300">
                <a:solidFill>
                  <a:srgbClr val="1E293B"/>
                </a:solidFill>
                <a:latin typeface="Arial"/>
              </a:rPr>
              <a:t>Displays demographic and seniority distributions tailored to the selected job posting.</a:t>
            </a:r>
          </a:p>
          <a:p>
            <a:pPr>
              <a:spcAft>
                <a:spcPts val="1200"/>
              </a:spcAft>
              <a:defRPr b="1" sz="1400">
                <a:solidFill>
                  <a:srgbClr val="0F172A"/>
                </a:solidFill>
                <a:latin typeface="Arial"/>
              </a:defRPr>
            </a:pPr>
            <a:r>
              <a:t>• Seniority Ratios: </a:t>
            </a:r>
            <a:r>
              <a:rPr b="0" sz="1300">
                <a:solidFill>
                  <a:srgbClr val="1E293B"/>
                </a:solidFill>
                <a:latin typeface="Arial"/>
              </a:rPr>
              <a:t>Visualizes the distribution of Ph.D., Masters, and Bachelors degrees in the pool.</a:t>
            </a:r>
          </a:p>
          <a:p>
            <a:pPr>
              <a:spcAft>
                <a:spcPts val="1200"/>
              </a:spcAft>
              <a:defRPr b="1" sz="1400">
                <a:solidFill>
                  <a:srgbClr val="0F172A"/>
                </a:solidFill>
                <a:latin typeface="Arial"/>
              </a:defRPr>
            </a:pPr>
            <a:r>
              <a:t>• Advanced Filters: </a:t>
            </a:r>
            <a:r>
              <a:rPr b="0" sz="1300">
                <a:solidFill>
                  <a:srgbClr val="1E293B"/>
                </a:solidFill>
                <a:latin typeface="Arial"/>
              </a:rPr>
              <a:t>Isolate candidate subsets instantly using biographical, academic, experience, and publication filters.</a:t>
            </a:r>
          </a:p>
          <a:p>
            <a:pPr>
              <a:spcAft>
                <a:spcPts val="1200"/>
              </a:spcAft>
              <a:defRPr b="1" sz="1400">
                <a:solidFill>
                  <a:srgbClr val="0F172A"/>
                </a:solidFill>
                <a:latin typeface="Arial"/>
              </a:defRPr>
            </a:pPr>
            <a:r>
              <a:t>• No Decision Lag: </a:t>
            </a:r>
            <a:r>
              <a:rPr b="0" sz="1300">
                <a:solidFill>
                  <a:srgbClr val="1E293B"/>
                </a:solidFill>
                <a:latin typeface="Arial"/>
              </a:rPr>
              <a:t>Enables HR to search through hundreds of profiles in seconds without opening individual resumes.</a:t>
            </a:r>
          </a:p>
        </p:txBody>
      </p:sp>
      <p:pic>
        <p:nvPicPr>
          <p:cNvPr id="4" name="Picture 3" descr="media__17799897284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Candidate Dossier: 360-Degree Profile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4748B"/>
                </a:solidFill>
                <a:latin typeface="Arial"/>
              </a:defRPr>
            </a:pPr>
            <a:r>
              <a:t>Review candidate profiles instantly in a modular, color-coded dossier modal without opening separate files.</a:t>
            </a:r>
          </a:p>
        </p:txBody>
      </p:sp>
      <p:pic>
        <p:nvPicPr>
          <p:cNvPr id="4" name="Picture 3" descr="media__17799898576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5120640" cy="3840480"/>
          </a:xfrm>
          <a:prstGeom prst="rect">
            <a:avLst/>
          </a:prstGeom>
        </p:spPr>
      </p:pic>
      <p:pic>
        <p:nvPicPr>
          <p:cNvPr id="5" name="Picture 4" descr="media__17799898696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11680"/>
            <a:ext cx="512064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Arial"/>
              </a:defRPr>
            </a:pPr>
            <a:r>
              <a:t>• Quick Profile Rollups  • Color-Coded Academic Levels  • Timeline Experience Views  • Clean Close Layout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Roster Exports: Clean Reports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93776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b="1" sz="1400">
                <a:solidFill>
                  <a:srgbClr val="0F172A"/>
                </a:solidFill>
                <a:latin typeface="Arial"/>
              </a:defRPr>
            </a:pPr>
            <a:r>
              <a:t>• Flexible Formats: </a:t>
            </a:r>
            <a:r>
              <a:rPr b="0" sz="1300">
                <a:solidFill>
                  <a:srgbClr val="1E293B"/>
                </a:solidFill>
                <a:latin typeface="Arial"/>
              </a:rPr>
              <a:t>Download candidate data tailored to the requirements of the review committee.</a:t>
            </a:r>
          </a:p>
          <a:p>
            <a:pPr>
              <a:spcAft>
                <a:spcPts val="1200"/>
              </a:spcAft>
              <a:defRPr b="1" sz="1400">
                <a:solidFill>
                  <a:srgbClr val="0F172A"/>
                </a:solidFill>
                <a:latin typeface="Arial"/>
              </a:defRPr>
            </a:pPr>
            <a:r>
              <a:t>• Detailed Grouped Excel: </a:t>
            </a:r>
            <a:r>
              <a:rPr b="0" sz="1300">
                <a:solidFill>
                  <a:srgbClr val="1E293B"/>
                </a:solidFill>
                <a:latin typeface="Arial"/>
              </a:rPr>
              <a:t>Candidate qualifications are stacked vertically with basic details merged, keeping layouts clean.</a:t>
            </a:r>
          </a:p>
          <a:p>
            <a:pPr>
              <a:spcAft>
                <a:spcPts val="1200"/>
              </a:spcAft>
              <a:defRPr b="1" sz="1400">
                <a:solidFill>
                  <a:srgbClr val="0F172A"/>
                </a:solidFill>
                <a:latin typeface="Arial"/>
              </a:defRPr>
            </a:pPr>
            <a:r>
              <a:t>• Standardized Summary: </a:t>
            </a:r>
            <a:r>
              <a:rPr b="0" sz="1300">
                <a:solidFill>
                  <a:srgbClr val="1E293B"/>
                </a:solidFill>
                <a:latin typeface="Arial"/>
              </a:rPr>
              <a:t>Generates condensed reports displaying degrees and latest roles inline (e.g. 'Degree (University)').</a:t>
            </a:r>
          </a:p>
          <a:p>
            <a:pPr>
              <a:spcAft>
                <a:spcPts val="1200"/>
              </a:spcAft>
              <a:defRPr b="1" sz="1400">
                <a:solidFill>
                  <a:srgbClr val="0F172A"/>
                </a:solidFill>
                <a:latin typeface="Arial"/>
              </a:defRPr>
            </a:pPr>
            <a:r>
              <a:t>• Clean Score Normalization: </a:t>
            </a:r>
            <a:r>
              <a:rPr b="0" sz="1300">
                <a:solidFill>
                  <a:srgbClr val="1E293B"/>
                </a:solidFill>
                <a:latin typeface="Arial"/>
              </a:rPr>
              <a:t>Automatically formats higher education scores ('79%' or '8 CGPA'), stripping trailing '.0' decimals.</a:t>
            </a:r>
          </a:p>
        </p:txBody>
      </p:sp>
      <p:pic>
        <p:nvPicPr>
          <p:cNvPr id="4" name="Picture 3" descr="media__17799899232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Smart Recruitment Portal: Operational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800"/>
              </a:spcBef>
              <a:defRPr sz="1600" b="1">
                <a:solidFill>
                  <a:srgbClr val="C2CDDB"/>
                </a:solidFill>
                <a:latin typeface="Arial"/>
              </a:defRPr>
            </a:pPr>
            <a:r>
              <a:t>Time Saved in Review: </a:t>
            </a:r>
            <a:r>
              <a:rPr sz="1500" b="0">
                <a:solidFill>
                  <a:srgbClr val="E2E8F0"/>
                </a:solidFill>
                <a:latin typeface="Arial"/>
              </a:rPr>
              <a:t>Managers review candidates directly from the portal, eliminating manual CV tracking and administrative overhead.</a:t>
            </a:r>
          </a:p>
          <a:p>
            <a:pPr>
              <a:spcBef>
                <a:spcPts val="1800"/>
              </a:spcBef>
              <a:defRPr sz="1600" b="1">
                <a:solidFill>
                  <a:srgbClr val="C2CDDB"/>
                </a:solidFill>
                <a:latin typeface="Arial"/>
              </a:defRPr>
            </a:pPr>
            <a:r>
              <a:t>Standardized Candidate Data: </a:t>
            </a:r>
            <a:r>
              <a:rPr sz="1500" b="0">
                <a:solidFill>
                  <a:srgbClr val="E2E8F0"/>
                </a:solidFill>
                <a:latin typeface="Arial"/>
              </a:rPr>
              <a:t>Dynamic form validations ensure applicant details are clean and complete on submission.</a:t>
            </a:r>
          </a:p>
          <a:p>
            <a:pPr>
              <a:spcBef>
                <a:spcPts val="1800"/>
              </a:spcBef>
              <a:defRPr sz="1600" b="1">
                <a:solidFill>
                  <a:srgbClr val="C2CDDB"/>
                </a:solidFill>
                <a:latin typeface="Arial"/>
              </a:defRPr>
            </a:pPr>
            <a:r>
              <a:t>Advanced Roster Exports: </a:t>
            </a:r>
            <a:r>
              <a:rPr sz="1500" b="0">
                <a:solidFill>
                  <a:srgbClr val="E2E8F0"/>
                </a:solidFill>
                <a:latin typeface="Arial"/>
              </a:rPr>
              <a:t>Generates presentation-ready spreadsheets with grouped stacked layouts, visual border dividers, and clean academic score normalization.</a:t>
            </a:r>
          </a:p>
          <a:p>
            <a:pPr>
              <a:spcBef>
                <a:spcPts val="1800"/>
              </a:spcBef>
              <a:defRPr sz="1600" b="1">
                <a:solidFill>
                  <a:srgbClr val="C2CDDB"/>
                </a:solidFill>
                <a:latin typeface="Arial"/>
              </a:defRPr>
            </a:pPr>
            <a:r>
              <a:t>Board Room Ready: </a:t>
            </a:r>
            <a:r>
              <a:rPr sz="1500" b="0">
                <a:solidFill>
                  <a:srgbClr val="E2E8F0"/>
                </a:solidFill>
                <a:latin typeface="Arial"/>
              </a:rPr>
              <a:t>Roster filters, dossier popups, and standardized exports are structured to be shared directly with senior board members and stakeholders.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